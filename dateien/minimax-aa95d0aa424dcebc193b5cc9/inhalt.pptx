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innenausbauhamburg/-/blob/b374c9d0e4a49c8a0de7c42f93479f4e09b8ad8d/_posts/2026-10-20-holz-eingangsbereich-flur-beanspruchung-profilwahl.md" TargetMode="External"/><Relationship Id="rId3" Type="http://schemas.openxmlformats.org/officeDocument/2006/relationships/hyperlink" Target="https://holzundhaus.github.io/holzinnenausbauhamburg/dateien/minimax-aa95d0aa424dcebc193b5cc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Beanspruchung im Eingangsbereich: Welche Holzflächen langfristig standhalten · Erklärende Präsentation</a:t>
            </a:r>
          </a:p>
        </p:txBody>
      </p:sp>
      <p:sp>
        <p:nvSpPr>
          <p:cNvPr id="3" name="Content Placeholder 2"/>
          <p:cNvSpPr>
            <a:spLocks noGrp="1"/>
          </p:cNvSpPr>
          <p:nvPr>
            <p:ph idx="1"/>
          </p:nvPr>
        </p:nvSpPr>
        <p:spPr/>
        <p:txBody>
          <a:bodyPr/>
          <a:lstStyle/>
          <a:p>
            <a:r>
              <a:t>Überblick: Der Eingangsbereich und der Flur gehören zu den am stärksten beanspruchten Zonen einer Wohnung oder eines Hauses. Täglich treffen Schuhe, Taschen, Jacken und wechselnde Feuchtigkeit auf Wandflächen, Profilbretter und Paneele. Wer Holzausbau im Eingangsbereich plant, sollte deshalb nicht nur auf Optik achten, sondern darauf, wie Material, Oberfläche und Profil auf diese besondere Belastungsmischung langfristig reagieren. Der folgende Ratgeber ordnet die wichtigsten Entscheidungskriterien ein.</a:t>
            </a:r>
          </a:p>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Mehrfache Belastung im Flur richtig einordnen</a:t>
            </a:r>
          </a:p>
        </p:txBody>
      </p:sp>
      <p:sp>
        <p:nvSpPr>
          <p:cNvPr id="3" name="Content Placeholder 2"/>
          <p:cNvSpPr>
            <a:spLocks noGrp="1"/>
          </p:cNvSpPr>
          <p:nvPr>
            <p:ph idx="1"/>
          </p:nvPr>
        </p:nvSpPr>
        <p:spPr/>
        <p:txBody>
          <a:bodyPr/>
          <a:lstStyle/>
          <a:p>
            <a:pPr>
              <a:defRPr sz="1800"/>
            </a:pPr>
            <a:r>
              <a:t>Anders als in Wohn- oder Schlafräumen wirken im Eingangsbereich mehrere Belastungsarten gleichzeitig auf Holzflächen ein. Mechanische Abnutzung entsteht durch das Anstoßen von Taschen und Jacken an Profilbretter, durch schleifende Schuhe und durch die ständige Berührung im Garderobenbereich. Gleichzeitig sorgen nasse Schuhe, offene Fenster und der permanente Übergang von außen nach innen für Feuchtewechsel, die Holz zum Quellen und Schwinden bringen können. Hinzu kommt eine vergleichsweise häufige Reinigung, weil Schmutz im Flur schneller auffällt als in anderen Räumen. Eine Bewertung nur nach der schönen Holzart reicht für diese Kombination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Mehrfache Belastung im Flur richtig einordnen</a:t>
            </a:r>
          </a:p>
        </p:txBody>
      </p:sp>
      <p:sp>
        <p:nvSpPr>
          <p:cNvPr id="3" name="Content Placeholder 2"/>
          <p:cNvSpPr>
            <a:spLocks noGrp="1"/>
          </p:cNvSpPr>
          <p:nvPr>
            <p:ph idx="1"/>
          </p:nvPr>
        </p:nvSpPr>
        <p:spPr/>
        <p:txBody>
          <a:bodyPr/>
          <a:lstStyle/>
          <a:p>
            <a:pPr>
              <a:defRPr sz="1800"/>
            </a:pPr>
            <a:r>
              <a:t>nicht aus. Entscheidend ist, wie sichtbare Schicht, Trägermaterial und Oberflächenbehandlung gemeinsam auf diese drei Faktoren reagieren.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Massivholz, Furnier oder beschichtete Platten</a:t>
            </a:r>
          </a:p>
        </p:txBody>
      </p:sp>
      <p:sp>
        <p:nvSpPr>
          <p:cNvPr id="3" name="Content Placeholder 2"/>
          <p:cNvSpPr>
            <a:spLocks noGrp="1"/>
          </p:cNvSpPr>
          <p:nvPr>
            <p:ph idx="1"/>
          </p:nvPr>
        </p:nvSpPr>
        <p:spPr/>
        <p:txBody>
          <a:bodyPr/>
          <a:lstStyle/>
          <a:p>
            <a:pPr>
              <a:defRPr sz="1800"/>
            </a:pPr>
            <a:r>
              <a:t>Massivholz besteht durchgehend aus gewachsenem Holz und bietet den Vorteil, dass sich oberflächliche Kratzer oder Druckstellen durch Schleifen und Nachbehandlung korrigieren lassen. Im Eingangsbereich muss jedoch beachtet werden, dass Massivholz stärker auf Feuchteänderungen reagiert. Konstruktive Details wie ausreichende Hinterlüftung, passende Profile und abgestimmte Befestigung sind hier besonders wichtig. Echtholzfurnier ist eine dünne Schicht echten Holzes auf einem Trägermaterial und wirkt optisch wie Massivholz, lässt sich aber nur begrenzt nachbearbeiten. Beschichtete Platten mit Holzdekor haben eine geschlossene, pflegeleichte Oberfl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Massivholz, Furnier oder beschichtete Platten</a:t>
            </a:r>
          </a:p>
        </p:txBody>
      </p:sp>
      <p:sp>
        <p:nvSpPr>
          <p:cNvPr id="3" name="Content Placeholder 2"/>
          <p:cNvSpPr>
            <a:spLocks noGrp="1"/>
          </p:cNvSpPr>
          <p:nvPr>
            <p:ph idx="1"/>
          </p:nvPr>
        </p:nvSpPr>
        <p:spPr/>
        <p:txBody>
          <a:bodyPr/>
          <a:lstStyle/>
          <a:p>
            <a:pPr>
              <a:defRPr sz="1800"/>
            </a:pPr>
            <a:r>
              <a:t>äche. Entscheidend ist hier eine saubere Bekantung an Kanten und Profilübergängen, da ungeschützte Stellen bei genauerem Hinsehen auffallen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Oberflächenbehandlung an die Belastung anpassen</a:t>
            </a:r>
          </a:p>
        </p:txBody>
      </p:sp>
      <p:sp>
        <p:nvSpPr>
          <p:cNvPr id="3" name="Content Placeholder 2"/>
          <p:cNvSpPr>
            <a:spLocks noGrp="1"/>
          </p:cNvSpPr>
          <p:nvPr>
            <p:ph idx="1"/>
          </p:nvPr>
        </p:nvSpPr>
        <p:spPr/>
        <p:txBody>
          <a:bodyPr/>
          <a:lstStyle/>
          <a:p>
            <a:pPr>
              <a:defRPr sz="1800"/>
            </a:pPr>
            <a:r>
              <a:t>Die Oberflächenbehandlung bestimmt maßgeblich, wie Schmutz, Feuchte und Abnutzung aufgenommen werden und wie sich Pflege oder Auffrischung gestalten. Geölte Oberflächen wirken natürlich und lassen sich punktuell nacharbeiten, benötigen aber regelmäßige Auffrischung. Gewachste Oberflächen betonen die Holzstruktur, sind im Flur jedoch empfindlicher gegenüber Feuchte und häufiger Reinigung. Lackierte Oberflächen bilden einen geschlossenen Film, sind leicht zu reinigen, lassen sich aber bei Beschädigung nur abschnittweise und mit sichtbarer Nacharbeitstelle ausbessern. Beschichtete Oberflächen auf Dekorplatten sind im Alltag robust, bei Beschädig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Oberflächenbehandlung an die Belastung anpassen</a:t>
            </a:r>
          </a:p>
        </p:txBody>
      </p:sp>
      <p:sp>
        <p:nvSpPr>
          <p:cNvPr id="3" name="Content Placeholder 2"/>
          <p:cNvSpPr>
            <a:spLocks noGrp="1"/>
          </p:cNvSpPr>
          <p:nvPr>
            <p:ph idx="1"/>
          </p:nvPr>
        </p:nvSpPr>
        <p:spPr/>
        <p:txBody>
          <a:bodyPr/>
          <a:lstStyle/>
          <a:p>
            <a:pPr>
              <a:defRPr sz="1800"/>
            </a:pPr>
            <a:r>
              <a:t>ung aber vom gesamten Bauteiltausch abhängig. Im Eingangsbereich empfiehlt es sich, die gewählte Behandlung an der tatsächlichen Belastung zu spiegeln – eine geölte Fläche neben der Garderobe wird anders beansprucht als ein lackiertes Paneel hinter der Tür.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Profilgeometrie und Aufbau planen</a:t>
            </a:r>
          </a:p>
        </p:txBody>
      </p:sp>
      <p:sp>
        <p:nvSpPr>
          <p:cNvPr id="3" name="Content Placeholder 2"/>
          <p:cNvSpPr>
            <a:spLocks noGrp="1"/>
          </p:cNvSpPr>
          <p:nvPr>
            <p:ph idx="1"/>
          </p:nvPr>
        </p:nvSpPr>
        <p:spPr/>
        <p:txBody>
          <a:bodyPr/>
          <a:lstStyle/>
          <a:p>
            <a:pPr>
              <a:defRPr sz="1800"/>
            </a:pPr>
            <a:r>
              <a:t>Neben Material und Oberfläche beeinflussen Profil und Aufbau die Beanspruchbarkeit im Flur erheblich. Profilbretter mit Nut-und-Feder-System können Feuchte besser ausgleichen, benötigen aber ausreichend Bewegungsspielraum an den Enden. Paneele mit großflächiger Optik wirken ruhiger, jede Beschädigung fällt jedoch deutlicher auf. Offene Profilstrukturen im unteren Wandbereich sammeln Schmutz und sind im Eingangsbereich ungünstig. Besonders wichtig ist der saubere Anschluss an Sockel, Ecken und angrenzende Materialien. Lose Fugen oder ungeschützte Hirnholzflächen nehmen im Flur deutlich schneller Feuchte auf als in weniger beanspruchten Räumen.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Feuchteschutz und Pflege im Alltag</a:t>
            </a:r>
          </a:p>
        </p:txBody>
      </p:sp>
      <p:sp>
        <p:nvSpPr>
          <p:cNvPr id="3" name="Content Placeholder 2"/>
          <p:cNvSpPr>
            <a:spLocks noGrp="1"/>
          </p:cNvSpPr>
          <p:nvPr>
            <p:ph idx="1"/>
          </p:nvPr>
        </p:nvSpPr>
        <p:spPr/>
        <p:txBody>
          <a:bodyPr/>
          <a:lstStyle/>
          <a:p>
            <a:pPr>
              <a:defRPr sz="1800"/>
            </a:pPr>
            <a:r>
              <a:t>Im Eingangsbereich kommt Feuchte von zwei Seiten: von außen über Schuhe und Luft, von innen über die regelmäßige Reinigung. Ein Material, das kurzfristigen Kontakt mit Wasser verträgt, ist nicht automatisch für dauerhafte Feuchtesituationen geeignet. Herstellerangaben zum Einsatzbereich der jeweiligen Platte verdienen besondere Aufmerksamkeit, da nicht jede MDF- oder Spanplatte für den Eingangsbereich ausgelegt ist. Für Wandflächen im Flur reicht häufig ein konstruktiver Schutz, etwa ein Abstand zum Boden oder ein geeigneter Sockel. Welche Lösung im konkreten Fall sinnvoll ist, sollte gemeinsam mit dem Fachbetrieb festgelegt werden, der den 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Feuchteschutz und Pflege im Alltag</a:t>
            </a:r>
          </a:p>
        </p:txBody>
      </p:sp>
      <p:sp>
        <p:nvSpPr>
          <p:cNvPr id="3" name="Content Placeholder 2"/>
          <p:cNvSpPr>
            <a:spLocks noGrp="1"/>
          </p:cNvSpPr>
          <p:nvPr>
            <p:ph idx="1"/>
          </p:nvPr>
        </p:nvSpPr>
        <p:spPr/>
        <p:txBody>
          <a:bodyPr/>
          <a:lstStyle/>
          <a:p>
            <a:pPr>
              <a:defRPr sz="1800"/>
            </a:pPr>
            <a:r>
              <a:t>nnenausbau mit Holz umsetzt.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Beanspruchung im Eingangsbereich: Welche Holzflächen langfristig standhalten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