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innenausbauhamburg.wordpress.com/2026/10/29/holzflaechen-kueche-hauswirtschaftsraum-feuchte-pflege/" TargetMode="External"/><Relationship Id="rId3" Type="http://schemas.openxmlformats.org/officeDocument/2006/relationships/hyperlink" Target="https://holzundhaus.github.io/holzinnenausbauhamburg/dateien/minimax-551849be5b6c38c1f38babf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Holzflächen in Küche und Hauswirtschaftsraum: Träger, Oberfläche und Pflege im Alltag · Erklärende Präsentation</a:t>
            </a:r>
          </a:p>
        </p:txBody>
      </p:sp>
      <p:sp>
        <p:nvSpPr>
          <p:cNvPr id="3" name="Content Placeholder 2"/>
          <p:cNvSpPr>
            <a:spLocks noGrp="1"/>
          </p:cNvSpPr>
          <p:nvPr>
            <p:ph idx="1"/>
          </p:nvPr>
        </p:nvSpPr>
        <p:spPr/>
        <p:txBody>
          <a:bodyPr/>
          <a:lstStyle/>
          <a:p>
            <a:r>
              <a:t>Überblick: Holzflächen in Küche und Hauswirtschaftsrum müssen mehr können als im Wohnraum: Spritzwasser, Kochdampf, Reinigungsmittel und hohe Temperaturen beanspruchen sie unterschiedlich stark. Die zentrale Planungsfrage lautet daher nicht nur „Welche Holzoptik gefällt?“, sondern welches Bauteil an welcher Stelle eingesetzt wird und wie Träger, Oberfläche, Kante und Pflege zusammenspielen. Der Beitrag „Holzflächen in Küche und Hauswirtschaftsraum“ bietet die Grundlage für eine belastbare Materialauswahl; der folgende Leitfaden übersetzt sie in konkrete Entscheidungen für die Planung und Abstimmung mit der Werkstatt.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Beanspruchungszone bestimmen</a:t>
            </a:r>
          </a:p>
        </p:txBody>
      </p:sp>
      <p:sp>
        <p:nvSpPr>
          <p:cNvPr id="3" name="Content Placeholder 2"/>
          <p:cNvSpPr>
            <a:spLocks noGrp="1"/>
          </p:cNvSpPr>
          <p:nvPr>
            <p:ph idx="1"/>
          </p:nvPr>
        </p:nvSpPr>
        <p:spPr/>
        <p:txBody>
          <a:bodyPr/>
          <a:lstStyle/>
          <a:p>
            <a:pPr>
              <a:defRPr sz="1800"/>
            </a:pPr>
            <a:r>
              <a:t>Vor der Materialwahl sollte jedes Bauteil einer konkreten Zone zugeordnet werden. Rund um Spüle und Spülmaschine drohen Spritzwasser sowie Feuchtigkeit an Schnittkanten, Fugen und Beschlägen. Über Kochfeld, Backofen oder Dampfgarer wirken regelmäßig warme, feuchte Luft und gelegentlich direkter Dampf. Fronten, Griffe, offene Regale und Schrankinnenseiten werden dagegen häufig feucht abgewischt. Eine Arbeitsplatte im direkten Nassbereich, ein geschlossenes Regal neben der Spüle und eine Schrankfront benötigen daher nicht automatisch dieselbe Konstruktion. Diese Unterscheidung verhindert, dass eine allgemein als feuchtfest bezeichnete Platte ei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Beanspruchungszone bestimmen</a:t>
            </a:r>
          </a:p>
        </p:txBody>
      </p:sp>
      <p:sp>
        <p:nvSpPr>
          <p:cNvPr id="3" name="Content Placeholder 2"/>
          <p:cNvSpPr>
            <a:spLocks noGrp="1"/>
          </p:cNvSpPr>
          <p:nvPr>
            <p:ph idx="1"/>
          </p:nvPr>
        </p:nvSpPr>
        <p:spPr/>
        <p:txBody>
          <a:bodyPr/>
          <a:lstStyle/>
          <a:p>
            <a:pPr>
              <a:defRPr sz="1800"/>
            </a:pPr>
            <a:r>
              <a:t>ngesetzt wird, obwohl der konkrete Einsatzbereich ungünstiger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Trägerplatte und Oberfläche gemeinsam prüfen</a:t>
            </a:r>
          </a:p>
        </p:txBody>
      </p:sp>
      <p:sp>
        <p:nvSpPr>
          <p:cNvPr id="3" name="Content Placeholder 2"/>
          <p:cNvSpPr>
            <a:spLocks noGrp="1"/>
          </p:cNvSpPr>
          <p:nvPr>
            <p:ph idx="1"/>
          </p:nvPr>
        </p:nvSpPr>
        <p:spPr/>
        <p:txBody>
          <a:bodyPr/>
          <a:lstStyle/>
          <a:p>
            <a:pPr>
              <a:defRPr sz="1800"/>
            </a:pPr>
            <a:r>
              <a:t>Eine sichtbare Holzoberfläche allein macht einen Werkstoff nicht feuchtebeständig. Entscheidend ist auch der Träger darunter. Spanplatten gibt es in unterschiedlichen Qualitäten und mit verschiedenen deklarierten Einsatzbereichen; bei Angeboten ist deshalb die genaue Produktbezeichnung entscheidend. MDF bietet einen homogenen Untergrund und eignet sich beispielsweise für profilierte, lackierte Fronten, ist im direkten Nassbereich jedoch nur mit einer ausdrücklich dafür geeigneten Variante zu betrachten. Sperrholz verbindet mehrere Furnierlagen und kann formstabil sein, benötigt aber ebenfalls einen passenden Kantenschutz. Oberfläche, Klebstof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Trägerplatte und Oberfläche gemeinsam prüfen</a:t>
            </a:r>
          </a:p>
        </p:txBody>
      </p:sp>
      <p:sp>
        <p:nvSpPr>
          <p:cNvPr id="3" name="Content Placeholder 2"/>
          <p:cNvSpPr>
            <a:spLocks noGrp="1"/>
          </p:cNvSpPr>
          <p:nvPr>
            <p:ph idx="1"/>
          </p:nvPr>
        </p:nvSpPr>
        <p:spPr/>
        <p:txBody>
          <a:bodyPr/>
          <a:lstStyle/>
          <a:p>
            <a:pPr>
              <a:defRPr sz="1800"/>
            </a:pPr>
            <a:r>
              <a:t>f, Träger und Kantenlösung sollten deshalb nie isoliert beurteilt werden. Ein hochwertig beschichtetes Bauteil kann trotzdem ungeeignet sein, wenn eine Schnittkante oder ein Wandübergang ungeschützt bleibt.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passende Oberflächensystem wählen</a:t>
            </a:r>
          </a:p>
        </p:txBody>
      </p:sp>
      <p:sp>
        <p:nvSpPr>
          <p:cNvPr id="3" name="Content Placeholder 2"/>
          <p:cNvSpPr>
            <a:spLocks noGrp="1"/>
          </p:cNvSpPr>
          <p:nvPr>
            <p:ph idx="1"/>
          </p:nvPr>
        </p:nvSpPr>
        <p:spPr/>
        <p:txBody>
          <a:bodyPr/>
          <a:lstStyle/>
          <a:p>
            <a:pPr>
              <a:defRPr sz="1800"/>
            </a:pPr>
            <a:r>
              <a:t>Beschichtete und laminierte Flächen sind pflegeleicht und für häufige Reinigung geeignet. Tiefe Kratzer oder Ablösungen lassen sich bei solchen Oberflächen meist nicht wie bei Massivholz nacharbeiten. Furnier verbindet eine echte Holzoberfläche mit einem Träger, doch seine begrenzte Schichtdicke schränkt die Nacharbeit ein. Es ist vor allem dort sinnvoll, wo Holznarbe gewünscht ist, aber keine dauerhafte direkte Wasserbelastung an Kante oder Spritzbereich entsteht. Massivholz und geölte Flächen wirken natürlich, reagieren an Hirnholz und Stößen jedoch besonders empfindlich. Geölte Oberflächen benötigen außerdem regelmäßige Nachbehandlung. Die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passende Oberflächensystem wählen</a:t>
            </a:r>
          </a:p>
        </p:txBody>
      </p:sp>
      <p:sp>
        <p:nvSpPr>
          <p:cNvPr id="3" name="Content Placeholder 2"/>
          <p:cNvSpPr>
            <a:spLocks noGrp="1"/>
          </p:cNvSpPr>
          <p:nvPr>
            <p:ph idx="1"/>
          </p:nvPr>
        </p:nvSpPr>
        <p:spPr/>
        <p:txBody>
          <a:bodyPr/>
          <a:lstStyle/>
          <a:p>
            <a:pPr>
              <a:defRPr sz="1800"/>
            </a:pPr>
            <a:r>
              <a:t> gewünschte Optik sollte deshalb gegen Pflegeaufwand und mögliche Reparaturen abgeglichen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kleine Schäden vorab organisieren</a:t>
            </a:r>
          </a:p>
        </p:txBody>
      </p:sp>
      <p:sp>
        <p:nvSpPr>
          <p:cNvPr id="3" name="Content Placeholder 2"/>
          <p:cNvSpPr>
            <a:spLocks noGrp="1"/>
          </p:cNvSpPr>
          <p:nvPr>
            <p:ph idx="1"/>
          </p:nvPr>
        </p:nvSpPr>
        <p:spPr/>
        <p:txBody>
          <a:bodyPr/>
          <a:lstStyle/>
          <a:p>
            <a:pPr>
              <a:defRPr sz="1800"/>
            </a:pPr>
            <a:r>
              <a:t>Für die tägliche Pflege genügen in der Regel ein feuchtes, nicht nasses Tuch und milde Reiniger. Scheuernde Schwämme, stark angreifende Mikrofasertücher und stehendes Wasser können selbst belastbare Beschichtungen schädigen. Spritzer und Wasserflecken sollten zeitnah aufgenommen werden. Reiniger gehören auf das Tuch, nicht direkt auf die Oberfläche. Besonders wichtig sind Kanten, Übergänge zur Wand und Beschläge, weil dort Feuchte leicht in Konstruktion und Fugen gelangt. Bei geölten Flächen sind die vom Hersteller empfohlenen Pflegeprodukte und Intervalle maßgeblich. Für jede gewählte Oberfläche sollte außerdem schriftlich festgehalten werde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kleine Schäden vorab organisieren</a:t>
            </a:r>
          </a:p>
        </p:txBody>
      </p:sp>
      <p:sp>
        <p:nvSpPr>
          <p:cNvPr id="3" name="Content Placeholder 2"/>
          <p:cNvSpPr>
            <a:spLocks noGrp="1"/>
          </p:cNvSpPr>
          <p:nvPr>
            <p:ph idx="1"/>
          </p:nvPr>
        </p:nvSpPr>
        <p:spPr/>
        <p:txBody>
          <a:bodyPr/>
          <a:lstStyle/>
          <a:p>
            <a:pPr>
              <a:defRPr sz="1800"/>
            </a:pPr>
            <a:r>
              <a:t>n, ob und wie kleine Beschädigungen nachzuarbeiten sind.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Planungsunterlagen für die Werkstatt erstellen</a:t>
            </a:r>
          </a:p>
        </p:txBody>
      </p:sp>
      <p:sp>
        <p:nvSpPr>
          <p:cNvPr id="3" name="Content Placeholder 2"/>
          <p:cNvSpPr>
            <a:spLocks noGrp="1"/>
          </p:cNvSpPr>
          <p:nvPr>
            <p:ph idx="1"/>
          </p:nvPr>
        </p:nvSpPr>
        <p:spPr/>
        <p:txBody>
          <a:bodyPr/>
          <a:lstStyle/>
          <a:p>
            <a:pPr>
              <a:defRPr sz="1800"/>
            </a:pPr>
            <a:r>
              <a:t>Eine klare Übersicht erleichtert die Abstimmung considerably. Für jedes Bauteil gehören Beanspruchungszone, Trägerplatte mit konkreter Produktbezeichnung, Oberflächensystem, Kantenschutz und Übergang zur Wand in dieselbe Planung. Hinzu kommen Angaben zu Pflege, Reparaturmöglichkeiten und Nachbehandlung. Bei Holzwerkstoffen sollte ein Nachweis für emissionsarme Produkte für das tatsächlich angebotene Bauteil angefordert werden; ein FSC- oder PEFC-Hinweis zur Holzherkunft ersetzt diesen nicht. Für die weiterführende Materialeinordnung bietet die Hauptseite „Massivholz, Furnier und Holzwerkstoffe im Vergleich“ eine ergänzende Übersicht, mit der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Planungsunterlagen für die Werkstatt erstellen</a:t>
            </a:r>
          </a:p>
        </p:txBody>
      </p:sp>
      <p:sp>
        <p:nvSpPr>
          <p:cNvPr id="3" name="Content Placeholder 2"/>
          <p:cNvSpPr>
            <a:spLocks noGrp="1"/>
          </p:cNvSpPr>
          <p:nvPr>
            <p:ph idx="1"/>
          </p:nvPr>
        </p:nvSpPr>
        <p:spPr/>
        <p:txBody>
          <a:bodyPr/>
          <a:lstStyle/>
          <a:p>
            <a:pPr>
              <a:defRPr sz="1800"/>
            </a:pPr>
            <a:r>
              <a:t>sich die Feuchteanforderungen auf konkrete Einsatzbereiche übertragen lassen.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Holzflächen in Küche und Hauswirtschaftsraum: Träger, Oberfläche und Pflege im Alltag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